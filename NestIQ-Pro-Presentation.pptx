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-1097280"/>
            <a:ext cx="4754880" cy="4754880"/>
          </a:xfrm>
          <a:prstGeom prst="rect">
            <a:avLst/>
          </a:prstGeom>
          <a:solidFill>
            <a:srgbClr val="17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548640"/>
            <a:ext cx="3840480" cy="3840480"/>
          </a:xfrm>
          <a:prstGeom prst="ellipse">
            <a:avLst/>
          </a:prstGeom>
          <a:solidFill>
            <a:srgbClr val="1E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320040"/>
            <a:ext cx="201168" cy="20116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  <a:ea typeface="Calibri"/>
                <a:cs typeface="Calibri"/>
              </a:rPr>
              <a:t>●   NESTIQ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96012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Rental management,
in one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84124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8C2B6"/>
                </a:solidFill>
                <a:latin typeface="Calibri"/>
                <a:ea typeface="Calibri"/>
                <a:cs typeface="Calibri"/>
              </a:rPr>
              <a:t>A South African web system for landlords, tenants, caretakers and contractors —
rent, repairs, payouts and receipts in a single record.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754880"/>
            <a:ext cx="64008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3200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  <a:ea typeface="Calibri"/>
                <a:cs typeface="Calibri"/>
              </a:rP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21808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Ntiyiso Justin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5074920"/>
            <a:ext cx="3200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  <a:ea typeface="Calibri"/>
                <a:cs typeface="Calibri"/>
              </a:rPr>
              <a:t>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5321808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BICT300  ·  Project300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5074920"/>
            <a:ext cx="3200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  <a:ea typeface="Calibri"/>
                <a:cs typeface="Calibri"/>
              </a:rPr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5321808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 September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6364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nestiq-pro.web.app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01  —  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0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What we will walk 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658368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44068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47672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B8943E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4767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31720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The South African rental problem NestIQ is built to solve.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544068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947672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B8943E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94767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Description of the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331720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Four roles, one product, money and work in Rand.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08960"/>
            <a:ext cx="544068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364992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B8943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36499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System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49040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Vanilla JS client, Firebase Auth, Firestore, Storage, Hosting.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108960"/>
            <a:ext cx="544068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3364992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B8943E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36499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Data flow diagrams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749040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How rent, invitations, and maintenance move through the system.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26280"/>
            <a:ext cx="544068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782312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B8943E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78231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Entity-relationship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166360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The core records: people, property, money, and jobs.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526280"/>
            <a:ext cx="544068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11112" y="4782312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B8943E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78231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Demonstration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5166360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A live loop: chat, repair, complete, pay, receipt.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E6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60196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NESTIQ  ·  SMART PROPERTY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6601968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02  / 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02  —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0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Small landlords run rentals in fragments.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658368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68580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6217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37944"/>
            <a:ext cx="6309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Rent due dates live in a spreadsheet — if they live anywhere.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04872"/>
            <a:ext cx="68580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404872"/>
            <a:ext cx="73152" cy="6217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6309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Repairs are a WhatsApp thread with no status, photos, or cost.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18104"/>
            <a:ext cx="68580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18104"/>
            <a:ext cx="73152" cy="6217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64408"/>
            <a:ext cx="6309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Tenants cannot see whether they are paid, overdue, or waiting.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31335"/>
            <a:ext cx="68580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31335"/>
            <a:ext cx="73152" cy="6217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77639"/>
            <a:ext cx="6309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Contractors get paid offline, with no receipt in the same system.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91640"/>
            <a:ext cx="3749039" cy="3520440"/>
          </a:xfrm>
          <a:prstGeom prst="roundRect">
            <a:avLst>
              <a:gd name="adj" fmla="val 8000"/>
            </a:avLst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96596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  <a:ea typeface="Calibri"/>
                <a:cs typeface="Calibri"/>
              </a:rPr>
              <a:t>THE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377440"/>
            <a:ext cx="32004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Not a missing feature.
A missing record —
who paid, who fixed it,
and what it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E6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60196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NESTIQ  ·  SMART PROPERTY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601968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03  / 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03  —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0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Built for this market, not translated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658368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91440" cy="1965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47672"/>
            <a:ext cx="3063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Rand, always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68880"/>
            <a:ext cx="30632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Rent, expenses, late fees and contractor payouts display in ZAR.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91440" cy="1965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947672"/>
            <a:ext cx="3063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Local lease habits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468880"/>
            <a:ext cx="30632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Notice periods and rent-increase copy follow Rental Housing Act practice.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69164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9" y="1691640"/>
            <a:ext cx="91440" cy="1965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7" y="1947672"/>
            <a:ext cx="3063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7" y="2468880"/>
            <a:ext cx="30632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English, Afrikaans, isiZulu, isiXhosa and Sesotho on key screens.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40480"/>
            <a:ext cx="91440" cy="1965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96512"/>
            <a:ext cx="3063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Banks they know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617720"/>
            <a:ext cx="30632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FNB, Standard Bank, Absa, Nedbank and Capitec in the EFT step.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84048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840480"/>
            <a:ext cx="91440" cy="1965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4096512"/>
            <a:ext cx="3063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WhatsApp, honestly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617720"/>
            <a:ext cx="30632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Reminders open WhatsApp with a filled message. The landlord still taps send.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384048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59" y="3840480"/>
            <a:ext cx="91440" cy="1965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7" y="4096512"/>
            <a:ext cx="3063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Hosted 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7" y="4617720"/>
            <a:ext cx="30632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Firebase project nestiq-pro. Demo at nestiq-pro.web.app.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E6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60196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NESTIQ  ·  SMART PROPERTY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6601968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04  / 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04  —  DESCRIPTION OF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0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One system for the people who run a building.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658368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The landlord owns the portfolio. Everyone else is invited in — they only see their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6974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269748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2860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LANDLORD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65176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Command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566160"/>
            <a:ext cx="22860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Properties, tenants, leases, rent roll, expenses, maintenance and contractor payouts.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011680"/>
            <a:ext cx="26974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2011680"/>
            <a:ext cx="269748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7" y="22860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TENANT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65176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Self-service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3566160"/>
            <a:ext cx="22860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Pay rent, report a fault, chat, and download a receipt — without another WhatsApp group.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011680"/>
            <a:ext cx="26974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011680"/>
            <a:ext cx="269748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2860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CARETAKER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5176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On-site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566160"/>
            <a:ext cx="22860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Log issues, review urgency, and assign a contractor within the landlord’s spend limit.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011680"/>
            <a:ext cx="26974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2011680"/>
            <a:ext cx="269748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2860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CONTRACTOR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265176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Job portal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3566160"/>
            <a:ext cx="22860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Accept, start, complete with parts and photos. They cannot mark themselves paid.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E6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60196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NESTIQ  ·  SMART PROPERTY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601968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05  / 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05  —  DESCRIPTION OF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0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The landlord dashboard is the portfolio.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658368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47672"/>
            <a:ext cx="3063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23160"/>
            <a:ext cx="30632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Properties, units, listings, applications, deposits, and a map of the 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47672"/>
            <a:ext cx="3063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423160"/>
            <a:ext cx="30632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Rent roll, late fees, expenses, reconcile, tax pack, ROI — amounts in Rand.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69164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1" y="1947672"/>
            <a:ext cx="3063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1" y="2423160"/>
            <a:ext cx="30632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Maintenance board, inspections, calendar, renewals, and vendor bank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96512"/>
            <a:ext cx="3063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People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572000"/>
            <a:ext cx="30632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Tenants, staff, caretakers and contractors — each invited with a role.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84048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4096512"/>
            <a:ext cx="3063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Messages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4572000"/>
            <a:ext cx="30632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In-app chat with unread badges so a tenant is not lost in WhatsApp.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384048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1" y="4096512"/>
            <a:ext cx="3063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1" y="4572000"/>
            <a:ext cx="30632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Pay rent or a contractor in-app. Download a NestIQ receipt for the file.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E6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60196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NESTIQ  ·  SMART PROPERTY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6601968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06  / 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06  —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0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Firebase is the infrastructure. The product logic is 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658368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5603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56032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057400"/>
            <a:ext cx="2194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88920"/>
            <a:ext cx="21945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HTML, CSS, vanilla JavaScript. Hash routing. Role-specific dashboards.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37360"/>
            <a:ext cx="25603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737360"/>
            <a:ext cx="256032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057400"/>
            <a:ext cx="2194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88920"/>
            <a:ext cx="21945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Auth flows, invitations, leases, rent status, maintenance workflow, receipts.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737360"/>
            <a:ext cx="25603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737360"/>
            <a:ext cx="256032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057400"/>
            <a:ext cx="2194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88920"/>
            <a:ext cx="21945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Firebase Auth, Cloud Firestore, Cloud Storage, Hosting, Cloud Functions.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737360"/>
            <a:ext cx="25603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1737360"/>
            <a:ext cx="256032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59" y="2057400"/>
            <a:ext cx="2194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2788920"/>
            <a:ext cx="21945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Firestore rules constrain writes. Passwords never sit in our database.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12080"/>
            <a:ext cx="178308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66944"/>
            <a:ext cx="1783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Firebase Auth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4600" y="5212080"/>
            <a:ext cx="178308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5266944"/>
            <a:ext cx="1783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Cloud Firestore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5212080"/>
            <a:ext cx="178308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5266944"/>
            <a:ext cx="1783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Storage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5212080"/>
            <a:ext cx="178308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5266944"/>
            <a:ext cx="1783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Hosting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59" y="5212080"/>
            <a:ext cx="178308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59" y="5266944"/>
            <a:ext cx="1783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Cloud Functions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12680" y="5212080"/>
            <a:ext cx="178308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5266944"/>
            <a:ext cx="1783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PWA / service worker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E6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60196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NESTIQ  ·  SMART PROPERTY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6601968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07  / 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07  —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0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Landlord-scoped data. Realtime where it matters.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658368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291840" cy="105156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3072384" cy="77723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Landlord / Tenant / Staff
browsers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783080"/>
            <a:ext cx="30175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984248"/>
            <a:ext cx="2798063" cy="77723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NestIQ client
(vanilla JS SPA)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783080"/>
            <a:ext cx="3200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984248"/>
            <a:ext cx="2980944" cy="77723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Firebase Hosting
+ 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3657600"/>
            <a:ext cx="30175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72768" y="3858768"/>
            <a:ext cx="2798063" cy="82295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Cloud Firestore
landlords/{id}/…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65760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3858768"/>
            <a:ext cx="2523744" cy="82295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Cloud Storage
photos &amp; docs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65760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7" y="3858768"/>
            <a:ext cx="3072384" cy="82295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Cloud Functions
email · webhooks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HTTPS  ·  ID tokens  ·  snapshot listeners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Each landlord’s properties, tenants, payments and jobs live under landlords/{landlordId}. Tenants, caretakers and contractors may only write the fields their role allows. A contractor completing a job appears on the landlord board without a page reload.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E6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60196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NESTIQ  ·  SMART PROPERTY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6601968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08  / 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08  —  DATA FLOW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0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Context diagram — NestIQ as one process.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658368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1965960"/>
            <a:ext cx="1737360" cy="1051560"/>
          </a:xfrm>
          <a:prstGeom prst="ellipse">
            <a:avLst/>
          </a:prstGeom>
          <a:solidFill>
            <a:srgbClr val="F7F4EF"/>
          </a:solidFill>
          <a:ln w="1587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13432"/>
            <a:ext cx="1737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Landlord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4160520"/>
            <a:ext cx="1737360" cy="1051560"/>
          </a:xfrm>
          <a:prstGeom prst="ellipse">
            <a:avLst/>
          </a:prstGeom>
          <a:solidFill>
            <a:srgbClr val="F7F4EF"/>
          </a:solidFill>
          <a:ln w="1587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507992"/>
            <a:ext cx="1737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Tenant</a:t>
            </a:r>
          </a:p>
        </p:txBody>
      </p:sp>
      <p:sp>
        <p:nvSpPr>
          <p:cNvPr id="10" name="Oval 9"/>
          <p:cNvSpPr/>
          <p:nvPr/>
        </p:nvSpPr>
        <p:spPr>
          <a:xfrm>
            <a:off x="9921240" y="1965960"/>
            <a:ext cx="1737360" cy="1051560"/>
          </a:xfrm>
          <a:prstGeom prst="ellipse">
            <a:avLst/>
          </a:prstGeom>
          <a:solidFill>
            <a:srgbClr val="F7F4EF"/>
          </a:solidFill>
          <a:ln w="1587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21240" y="2313432"/>
            <a:ext cx="1737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Caretaker</a:t>
            </a:r>
          </a:p>
        </p:txBody>
      </p:sp>
      <p:sp>
        <p:nvSpPr>
          <p:cNvPr id="12" name="Oval 11"/>
          <p:cNvSpPr/>
          <p:nvPr/>
        </p:nvSpPr>
        <p:spPr>
          <a:xfrm>
            <a:off x="9921240" y="4160520"/>
            <a:ext cx="1737360" cy="1051560"/>
          </a:xfrm>
          <a:prstGeom prst="ellipse">
            <a:avLst/>
          </a:prstGeom>
          <a:solidFill>
            <a:srgbClr val="F7F4EF"/>
          </a:solidFill>
          <a:ln w="1587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21240" y="4507992"/>
            <a:ext cx="1737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Contractor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468880"/>
            <a:ext cx="4617720" cy="2148840"/>
          </a:xfrm>
          <a:prstGeom prst="roundRect">
            <a:avLst>
              <a:gd name="adj" fmla="val 8000"/>
            </a:avLst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2880360"/>
            <a:ext cx="4343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  NestIQ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429000"/>
            <a:ext cx="4343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9A84C"/>
                </a:solidFill>
                <a:latin typeface="Calibri"/>
                <a:ea typeface="Calibri"/>
                <a:cs typeface="Calibri"/>
              </a:rPr>
              <a:t>Invite  ·  Occupy  ·  Collect rent
Assign work  ·  Pay  ·  Receipt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External entities interact with NestIQ. Persistence is Firebase (Auth, Firestore, Storage) — shown on the next slides as data stores.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E6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60196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NESTIQ  ·  SMART PROPERTY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601968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09  / 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09  —  DATA FLOW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0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Rent collection — from due to receipt.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658368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26974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B8943E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23317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Lease &amp;
unit 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23317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Obligation uses monthly unit rent, not a prorated guess.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10896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C9A84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783080"/>
            <a:ext cx="26974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965960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B8943E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468880"/>
            <a:ext cx="23317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Tenant
pays in-app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383280"/>
            <a:ext cx="23317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Card or EFT wizard. Amount = rent + late fee if any.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10896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C9A84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783080"/>
            <a:ext cx="26974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965960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B8943E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68880"/>
            <a:ext cx="23317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Payment
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383280"/>
            <a:ext cx="23317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Written to landlords/{id}/payments with tenantUid.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310896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C9A84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783080"/>
            <a:ext cx="26974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1965960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B8943E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468880"/>
            <a:ext cx="23317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Both sides
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383280"/>
            <a:ext cx="23317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Portal shows Paid. Landlord Home, Tenants and Rent Roll show collected.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1208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School honesty: the wizard records the payment in NestIQ. It does not debit FNB or Capitec. PayFast is the intended live gateway.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E6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60196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NESTIQ  ·  SMART PROPERTY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6601968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10  / 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10  —  DATA FLOW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0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Maintenance — a job has a life, not an emoji.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658368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2084831"/>
            <a:ext cx="658368" cy="65836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2212848"/>
            <a:ext cx="65836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92608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429000"/>
            <a:ext cx="23774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Tenant logs a fault with photos and a suggested urgency.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74519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2084831"/>
            <a:ext cx="658368" cy="65836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212848"/>
            <a:ext cx="65836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92608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3429000"/>
            <a:ext cx="23774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Landlord or caretaker sets official priority and assigns a contractor.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874519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60920" y="2084831"/>
            <a:ext cx="658368" cy="65836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212848"/>
            <a:ext cx="65836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92608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429000"/>
            <a:ext cx="23774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Contractor Accept → Start → Complete with parts, labour and photos.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874519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87000" y="2084831"/>
            <a:ext cx="658368" cy="65836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2212848"/>
            <a:ext cx="65836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292608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Pay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2" y="3429000"/>
            <a:ext cx="23774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Landlord pays in-app. Contractor sees Paid. They cannot self-mark paid.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E6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60196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NESTIQ  ·  SMART PROPERTY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6601968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11  / 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11  —  ENTITY-RELATIONSHIP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0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Core records under each landlord.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658368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22402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27632"/>
            <a:ext cx="2240280" cy="347472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73352"/>
            <a:ext cx="2240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 /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48256"/>
            <a:ext cx="2057400" cy="13990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uid
email
role
landlordId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627632"/>
            <a:ext cx="22402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360" y="1627632"/>
            <a:ext cx="2240280" cy="347472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673352"/>
            <a:ext cx="2240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PROPERTY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048256"/>
            <a:ext cx="2057400" cy="13990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name  ·  address
units[]
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627632"/>
            <a:ext cx="22402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1627632"/>
            <a:ext cx="2240280" cy="347472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673352"/>
            <a:ext cx="2240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2048256"/>
            <a:ext cx="2057400" cy="13990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label  ·  rent
status
tenantId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27632"/>
            <a:ext cx="22402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79" y="1627632"/>
            <a:ext cx="2240280" cy="347472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1673352"/>
            <a:ext cx="2240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TENANT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7" y="2048256"/>
            <a:ext cx="2057400" cy="13990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name  ·  email
unitId  ·  lease
profilePhoto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1627632"/>
            <a:ext cx="17373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12680" y="1627632"/>
            <a:ext cx="1737360" cy="347472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1673352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2407" y="2048256"/>
            <a:ext cx="1554480" cy="13990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start / end
rent  ·  status
signatures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3840480"/>
            <a:ext cx="23317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88720" y="3840480"/>
            <a:ext cx="2331720" cy="347472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3886200"/>
            <a:ext cx="2331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4261104"/>
            <a:ext cx="2148839" cy="1307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tenantId  ·  uid
amount  ·  date
receiptNo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0" y="3840480"/>
            <a:ext cx="2468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0" y="3840480"/>
            <a:ext cx="2468880" cy="347472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0" y="388620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MAINTENANCE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208" y="4261104"/>
            <a:ext cx="2286000" cy="1307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propertyId
contractorId
status  ·  cost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3840480"/>
            <a:ext cx="23317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3840480"/>
            <a:ext cx="2331720" cy="347472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886200"/>
            <a:ext cx="2331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MESSAGE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8" y="4261104"/>
            <a:ext cx="2148839" cy="1307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tenantId
fromRole
read / unread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89720" y="3840480"/>
            <a:ext cx="23317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89720" y="3840480"/>
            <a:ext cx="2331720" cy="347472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3886200"/>
            <a:ext cx="2331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INVITATION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9448" y="4261104"/>
            <a:ext cx="2148839" cy="1307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code  ·  role
tenant / staff
expires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B665E"/>
                </a:solidFill>
                <a:latin typeface="Calibri"/>
                <a:ea typeface="Calibri"/>
                <a:cs typeface="Calibri"/>
              </a:rPr>
              <a:t>1 landlord  →  many properties  →  many units. A unit has at most one active tenant. Payments and jobs always carry tenantId and landlord scope.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E6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60196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NESTIQ  ·  SMART PROPERTY 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6601968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12  / 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12  — 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0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Two browsers. One loop. That is the demo.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658368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7406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19656"/>
            <a:ext cx="5486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8943E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37944"/>
            <a:ext cx="6400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Landlord: open a tenant, send a chat. Tenant window: unread badge, reply.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04872"/>
            <a:ext cx="7406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32888"/>
            <a:ext cx="5486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8943E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551176"/>
            <a:ext cx="6400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Tenant: report a leak and suggest urgency. Landlord: confirm official priority.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18104"/>
            <a:ext cx="7406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5486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8943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264408"/>
            <a:ext cx="6400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Contractor: Accept → Start → Complete with parts and a total.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31335"/>
            <a:ext cx="7406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59351"/>
            <a:ext cx="5486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8943E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77639"/>
            <a:ext cx="6400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Landlord: Pay contractor. Download the payout receipt.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44568"/>
            <a:ext cx="7406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72584"/>
            <a:ext cx="5486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8943E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690872"/>
            <a:ext cx="6400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Tenant: pay this month’s rent. Portal and Rent Roll both show Paid.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1691640"/>
            <a:ext cx="3246120" cy="4160520"/>
          </a:xfrm>
          <a:prstGeom prst="roundRect">
            <a:avLst>
              <a:gd name="adj" fmla="val 8000"/>
            </a:avLst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965960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  <a:ea typeface="Calibri"/>
                <a:cs typeface="Calibri"/>
              </a:rPr>
              <a:t>HOW TO RUN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377440"/>
            <a:ext cx="2834640" cy="3108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Keep the live site as landlord in one window.
Open a second window for tenant or contractor.
The loop is the product — do not click every menu.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E6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60196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NESTIQ  ·  SMART PROPERTY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6601968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13  / 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943E"/>
                </a:solidFill>
                <a:latin typeface="Calibri"/>
                <a:ea typeface="Calibri"/>
                <a:cs typeface="Calibri"/>
              </a:rPr>
              <a:t>13  — 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0" i="0">
                <a:solidFill>
                  <a:srgbClr val="0E1117"/>
                </a:solidFill>
                <a:latin typeface="Georgia"/>
                <a:ea typeface="Georgia"/>
                <a:cs typeface="Georgia"/>
              </a:rPr>
              <a:t>What is live, and what is a school simulation.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658368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EEF3EE"/>
          </a:solidFill>
          <a:ln w="12700">
            <a:solidFill>
              <a:srgbClr val="C5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5A7A60"/>
                </a:solidFill>
                <a:latin typeface="Georgia"/>
                <a:ea typeface="Georgia"/>
                <a:cs typeface="Georgia"/>
              </a:rPr>
              <a:t>Working in the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•  Accounts, invitations, and role split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•  Properties, units, tenants, leases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•  Chat with unread badges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•  Full contractor job workflow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•  In-app receipts after rent and payouts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•  Firestore security rules on the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8F1DC"/>
          </a:solidFill>
          <a:ln w="12700">
            <a:solidFill>
              <a:srgbClr val="E6D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B8943E"/>
                </a:solidFill>
                <a:latin typeface="Georgia"/>
                <a:ea typeface="Georgia"/>
                <a:cs typeface="Georgia"/>
              </a:rPr>
              <a:t>Designed, not charging a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•  Card / EFT wizard does not debit a real bank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•  PayFast is the intended gateway — not live charging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•  WhatsApp is pre-filled, not automated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•  AI suggests; it does not replace a credit check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E1117"/>
                </a:solidFill>
                <a:latin typeface="Calibri"/>
                <a:ea typeface="Calibri"/>
                <a:cs typeface="Calibri"/>
              </a:rPr>
              <a:t>•  Receipts are NestIQ proof, not SARS tax invoices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E6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60196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NESTIQ  ·  SMART PROPERTY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601968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A8A092"/>
                </a:solidFill>
                <a:latin typeface="Calibri"/>
                <a:ea typeface="Calibri"/>
                <a:cs typeface="Calibri"/>
              </a:rPr>
              <a:t>14  / 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8C2B6"/>
                </a:solidFill>
                <a:latin typeface="Calibri"/>
                <a:ea typeface="Calibri"/>
                <a:cs typeface="Calibri"/>
              </a:rPr>
              <a:t>If we only remember one sentence: NestIQ turns WhatsApp and Excel into a record — who paid, who fixed it, and what it cost.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64008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  <a:ea typeface="Calibri"/>
                <a:cs typeface="Calibri"/>
              </a:rP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64608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nestiq-pro.web.app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457200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  <a:ea typeface="Calibri"/>
                <a:cs typeface="Calibri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4864608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Ntiyiso Justin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57200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  <a:ea typeface="Calibri"/>
                <a:cs typeface="Calibri"/>
              </a:rPr>
              <a:t>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4864608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BICT300  ·  Project300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6364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A8A092"/>
                </a:solidFill>
                <a:latin typeface="Georgia"/>
                <a:ea typeface="Georgia"/>
                <a:cs typeface="Georgia"/>
              </a:rPr>
              <a:t>Honesty scores higher than overselling.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